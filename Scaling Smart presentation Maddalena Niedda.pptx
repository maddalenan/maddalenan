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5" r:id="rId3"/>
    <p:sldId id="256" r:id="rId4"/>
    <p:sldId id="259" r:id="rId5"/>
    <p:sldId id="257" r:id="rId6"/>
    <p:sldId id="258" r:id="rId7"/>
    <p:sldId id="260" r:id="rId8"/>
    <p:sldId id="263" r:id="rId9"/>
    <p:sldId id="261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-160" y="-4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82A75B-38AB-F321-D571-6794C6C4F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5F750-F799-A094-61DF-05B00F20C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42BFD-48D5-46A0-8CA3-7F1924E0D73C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575BF-F418-177B-485D-53FBDA57EC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7653A-DB94-8D31-2196-575821D32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C697E-94F6-411F-8BEC-60915A877B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72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EBA17-4105-4BCE-B2F8-BF2E83CF1F83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03B55-816B-4BF2-8D33-BA200F77F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2125A-68F7-46FB-9ED7-62F34110E1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472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03B55-816B-4BF2-8D33-BA200F77F9B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58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72DD-6D32-998E-E145-EBE740249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8F10B-6625-0A42-13A2-BE1FE10A9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763AF-93A5-104A-9335-8A92C3B4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327D-AF0F-6A93-B596-00757BE7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45BEB-7180-5B7D-00D4-78C2F835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69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AA59-84CB-AB4F-CC5C-3DCA22A7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99FA2-FE3B-7305-B69E-99CE7C1D3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81234-D267-534A-F78E-C526C138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449E9-DA63-084C-B420-BC66A1A2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93F37-29A0-59C6-F5AC-0CF2905F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84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3139-90F2-64E4-AF3B-5CB2AA765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5AAA6-FCFA-914B-3966-7EF93FB81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2114E-ED0C-A02B-7FE2-A100FD4B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0E61-5D98-4F6A-16D7-BBD1170E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FFA2-4AFB-0F07-877A-92EE0920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76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801E-11F6-5A19-65D7-9A10108C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33D2-EDE1-66BA-BF3C-7AF5602AC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BBA0C-5848-257C-D54C-BB51D2168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39834-828F-5839-7D27-E2375739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E5C34-C6B5-E1AF-2FC1-74BA223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A897D-52AA-7446-AB1A-97D19D7A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17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2D00-B090-9266-5A6A-523A8644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8754-1C3D-6FA7-0682-4EE8ECBBC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B8155-C801-FA16-351B-66E231AB9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39EDC-F577-9798-A652-84FF7A513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D60C39-4935-9432-9F50-635570374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0C17F-39D9-99CF-A6AE-006BC7C2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6CCB8-45C9-7947-D0FD-EA876190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8DD1C-72B7-0A63-F503-DA204D00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68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0DBF-7065-F554-6E74-A0257736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3E6F6-360C-B601-2CA0-0379B6F8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B7F1-0444-9821-EE9F-66C0F9C7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8628A-5E13-612C-7FB3-80871575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40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DF12C-E414-161F-AE83-0E7621C2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8CE9A-4AAA-A43E-D2C8-1D51A07A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A0D3C-A09C-A8F1-AB09-417FC7D0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34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A3F8-92A4-9546-A9E4-5F13F06B0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CC95-074B-5E61-E836-0A20E7F03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A8163-985D-D101-A921-D9B81BAEA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343E4-3276-7B36-EA14-1B270828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DECA9-E451-2924-A03C-2DC8241E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C8DB7-BA01-F856-7F2B-4B109604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94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2D0E-8011-49E7-67F7-4508AC2C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096C7-B883-B86F-82A8-6528718BA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03B30-4A7C-2599-A930-35C2036D6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BDCD7-56B5-7BDC-78BD-89F459A71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B2ED9-F1BC-343D-2F29-792E1E05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BB76A-6669-CF82-1D84-55F43C3D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5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9A85-6CAA-C53C-62D9-5792BFCB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703C0-CC39-B054-2A73-9E58BDA28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3AFBD-C185-3D34-E993-DF8508DC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D42-664D-1947-1332-116D58EC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2678-830B-7E49-E829-F5DCE658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20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07EF1-BD45-DE8D-5D88-D0F9EFFD9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765AD-0FC4-1A3F-54BC-E483AAAEC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8BE3A-5B2A-9A05-8221-328455B2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CA82B-219A-4B4B-71C2-C0361765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C864-F11B-1C52-BD9A-7172FE1E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56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CD14F-45E8-D567-561C-82198478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0D15-7E00-B4BF-7569-5CB772488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C2A28-A16A-2577-7F17-3803C3F90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0896B-248C-4906-B9CE-2097726A1CE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EAA3-878F-1060-0613-50D02578D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CC7C5-FAEC-7181-7458-78C70F6CD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7CEF5-FCE2-4422-9FE1-1EF5B4AE3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8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3.svg"/><Relationship Id="rId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0975635-045C-B6F6-A6B8-4B84A9879C65}"/>
              </a:ext>
            </a:extLst>
          </p:cNvPr>
          <p:cNvSpPr txBox="1"/>
          <p:nvPr/>
        </p:nvSpPr>
        <p:spPr>
          <a:xfrm>
            <a:off x="674977" y="205508"/>
            <a:ext cx="4781147" cy="2971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cap="all" spc="30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Scaling Smart:</a:t>
            </a:r>
            <a:br>
              <a:rPr lang="en-US" sz="4100" cap="all" spc="300" dirty="0">
                <a:ln w="3175" cmpd="sng">
                  <a:noFill/>
                </a:ln>
                <a:latin typeface="+mj-lt"/>
                <a:ea typeface="+mj-ea"/>
                <a:cs typeface="+mj-cs"/>
              </a:rPr>
            </a:br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Revenue and</a:t>
            </a:r>
            <a:b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</a:br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Performance</a:t>
            </a:r>
            <a:b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</a:br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Analysis</a:t>
            </a:r>
            <a:endParaRPr lang="en-US" sz="41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DF027-74A8-CAE1-1F6F-9984E370A092}"/>
              </a:ext>
            </a:extLst>
          </p:cNvPr>
          <p:cNvSpPr txBox="1"/>
          <p:nvPr/>
        </p:nvSpPr>
        <p:spPr>
          <a:xfrm>
            <a:off x="674977" y="6135256"/>
            <a:ext cx="4816572" cy="1947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100" spc="300" dirty="0">
                <a:solidFill>
                  <a:schemeClr val="bg2">
                    <a:lumMod val="75000"/>
                  </a:schemeClr>
                </a:solidFill>
              </a:rPr>
              <a:t>Maddalena Niedda</a:t>
            </a:r>
            <a:endParaRPr lang="en-US" sz="21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ECEE15-C17A-05C1-7B5D-44B17359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80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09A1C9-CA53-F95B-283A-FC3B95CA02ED}"/>
              </a:ext>
            </a:extLst>
          </p:cNvPr>
          <p:cNvCxnSpPr>
            <a:cxnSpLocks/>
          </p:cNvCxnSpPr>
          <p:nvPr/>
        </p:nvCxnSpPr>
        <p:spPr>
          <a:xfrm flipH="1" flipV="1">
            <a:off x="808488" y="5994505"/>
            <a:ext cx="3406860" cy="67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33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F1D8-4ED8-EBCB-4E03-01C48BFA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46" y="503734"/>
            <a:ext cx="9451795" cy="1507067"/>
          </a:xfrm>
        </p:spPr>
        <p:txBody>
          <a:bodyPr>
            <a:normAutofit fontScale="90000"/>
          </a:bodyPr>
          <a:lstStyle/>
          <a:p>
            <a:r>
              <a:rPr lang="en-GB" dirty="0"/>
              <a:t>Objective: Produce insights to support strategic growth and revenue improvements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6C2F-1CDA-6EFC-1600-F7B75DB78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45" y="1719499"/>
            <a:ext cx="11105017" cy="29512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TASKS: 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1) Calculate revenue by treatment/doctor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2) segment high-value patients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3) simulate pricing changes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4) track changes over time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dk1"/>
                </a:solidFill>
              </a:rPr>
              <a:t>5) flag and update anomalies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4FCF6-F86E-A1CC-D3A3-D1A876ADF013}"/>
              </a:ext>
            </a:extLst>
          </p:cNvPr>
          <p:cNvSpPr txBox="1">
            <a:spLocks/>
          </p:cNvSpPr>
          <p:nvPr/>
        </p:nvSpPr>
        <p:spPr>
          <a:xfrm>
            <a:off x="433045" y="5147923"/>
            <a:ext cx="11105017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100" dirty="0"/>
              <a:t>Deliver: SQL scripts with comments, revenue summary, one-slide business insight pitch</a:t>
            </a:r>
          </a:p>
          <a:p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D0546A-7E6B-6D6D-BFAD-1EF5FA66B58A}"/>
              </a:ext>
            </a:extLst>
          </p:cNvPr>
          <p:cNvCxnSpPr>
            <a:cxnSpLocks/>
          </p:cNvCxnSpPr>
          <p:nvPr/>
        </p:nvCxnSpPr>
        <p:spPr>
          <a:xfrm flipH="1" flipV="1">
            <a:off x="4132259" y="1719499"/>
            <a:ext cx="3406860" cy="67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60E4CD-C6C6-A30A-F288-E7B73A61A871}"/>
              </a:ext>
            </a:extLst>
          </p:cNvPr>
          <p:cNvCxnSpPr>
            <a:cxnSpLocks/>
          </p:cNvCxnSpPr>
          <p:nvPr/>
        </p:nvCxnSpPr>
        <p:spPr>
          <a:xfrm flipH="1" flipV="1">
            <a:off x="4132259" y="4905933"/>
            <a:ext cx="3406860" cy="67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93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22EE8B-93D7-2364-61DA-6AFC68407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813" y="227467"/>
            <a:ext cx="3986443" cy="112425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en-US" sz="700" dirty="0">
                <a:solidFill>
                  <a:srgbClr val="FF0000"/>
                </a:solidFill>
              </a:rPr>
              <a:t>--Total revenue and average spent by patient</a:t>
            </a:r>
          </a:p>
          <a:p>
            <a:pPr algn="l"/>
            <a:r>
              <a:rPr lang="en-US" sz="700" dirty="0"/>
              <a:t>SELECT </a:t>
            </a:r>
          </a:p>
          <a:p>
            <a:pPr algn="l"/>
            <a:r>
              <a:rPr lang="en-US" sz="700" dirty="0"/>
              <a:t>    ROUND(SUM(amount),2) AS </a:t>
            </a:r>
            <a:r>
              <a:rPr lang="en-US" sz="700" dirty="0" err="1"/>
              <a:t>total_revenue</a:t>
            </a:r>
            <a:r>
              <a:rPr lang="en-US" sz="700" dirty="0"/>
              <a:t>, ROUND(AVG(amount),2) AS </a:t>
            </a:r>
            <a:r>
              <a:rPr lang="en-US" sz="700" dirty="0" err="1"/>
              <a:t>avg_revenue_patient</a:t>
            </a:r>
            <a:endParaRPr lang="en-US" sz="700" dirty="0"/>
          </a:p>
          <a:p>
            <a:pPr algn="l"/>
            <a:r>
              <a:rPr lang="en-US" sz="700" dirty="0"/>
              <a:t>        FROM billing</a:t>
            </a:r>
          </a:p>
          <a:p>
            <a:pPr algn="l"/>
            <a:r>
              <a:rPr lang="en-US" sz="700" dirty="0"/>
              <a:t>        WHERE </a:t>
            </a:r>
            <a:r>
              <a:rPr lang="en-US" sz="700" dirty="0" err="1"/>
              <a:t>payment_status</a:t>
            </a:r>
            <a:r>
              <a:rPr lang="en-US" sz="700" dirty="0"/>
              <a:t>= "Paid";</a:t>
            </a:r>
          </a:p>
          <a:p>
            <a:pPr algn="l"/>
            <a:endParaRPr lang="en-GB" sz="700" dirty="0">
              <a:solidFill>
                <a:srgbClr val="FF000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A775C97-8520-79FD-B478-3CD519AF3647}"/>
              </a:ext>
            </a:extLst>
          </p:cNvPr>
          <p:cNvSpPr txBox="1">
            <a:spLocks/>
          </p:cNvSpPr>
          <p:nvPr/>
        </p:nvSpPr>
        <p:spPr>
          <a:xfrm>
            <a:off x="7704813" y="3063048"/>
            <a:ext cx="3614436" cy="2047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--Average Revenue per Doctor</a:t>
            </a:r>
          </a:p>
          <a:p>
            <a:r>
              <a:rPr lang="en-GB" dirty="0">
                <a:solidFill>
                  <a:schemeClr val="tx1"/>
                </a:solidFill>
              </a:rPr>
              <a:t>SELECT 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)/ COUNT(DISTINCT </a:t>
            </a:r>
            <a:r>
              <a:rPr lang="en-GB" dirty="0" err="1">
                <a:solidFill>
                  <a:schemeClr val="tx1"/>
                </a:solidFill>
              </a:rPr>
              <a:t>d.doctor_id</a:t>
            </a:r>
            <a:r>
              <a:rPr lang="en-GB" dirty="0">
                <a:solidFill>
                  <a:schemeClr val="tx1"/>
                </a:solidFill>
              </a:rPr>
              <a:t>),0) AS </a:t>
            </a:r>
            <a:r>
              <a:rPr lang="en-GB" dirty="0" err="1">
                <a:solidFill>
                  <a:schemeClr val="tx1"/>
                </a:solidFill>
              </a:rPr>
              <a:t>avg_revenue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    JOIN treatments t    	 ON </a:t>
            </a:r>
            <a:r>
              <a:rPr lang="en-GB" dirty="0" err="1">
                <a:solidFill>
                  <a:schemeClr val="tx1"/>
                </a:solidFill>
              </a:rPr>
              <a:t>b.treatment_id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t.treatment_id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appointments a  	 ON </a:t>
            </a:r>
            <a:r>
              <a:rPr lang="en-GB" dirty="0" err="1">
                <a:solidFill>
                  <a:schemeClr val="tx1"/>
                </a:solidFill>
              </a:rPr>
              <a:t>t.appointment_id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a.appointment_id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doctors d        	ON </a:t>
            </a:r>
            <a:r>
              <a:rPr lang="en-GB" dirty="0" err="1">
                <a:solidFill>
                  <a:schemeClr val="tx1"/>
                </a:solidFill>
              </a:rPr>
              <a:t>a.doctor_id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d.doctor_id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= "Paid";</a:t>
            </a:r>
          </a:p>
          <a:p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F0C6AF0-A5B0-21B8-2DF0-FA2610095AFE}"/>
              </a:ext>
            </a:extLst>
          </p:cNvPr>
          <p:cNvSpPr txBox="1">
            <a:spLocks/>
          </p:cNvSpPr>
          <p:nvPr/>
        </p:nvSpPr>
        <p:spPr>
          <a:xfrm>
            <a:off x="317200" y="1970880"/>
            <a:ext cx="7217229" cy="2047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F144EDD-38B6-C492-4E97-A1534C695947}"/>
              </a:ext>
            </a:extLst>
          </p:cNvPr>
          <p:cNvSpPr txBox="1">
            <a:spLocks/>
          </p:cNvSpPr>
          <p:nvPr/>
        </p:nvSpPr>
        <p:spPr>
          <a:xfrm>
            <a:off x="5428563" y="3175691"/>
            <a:ext cx="7217229" cy="2664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C1E62-6112-6D8F-2A5C-CBFDAB5723AA}"/>
              </a:ext>
            </a:extLst>
          </p:cNvPr>
          <p:cNvSpPr txBox="1"/>
          <p:nvPr/>
        </p:nvSpPr>
        <p:spPr>
          <a:xfrm>
            <a:off x="500744" y="252799"/>
            <a:ext cx="416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OVERALL REVENUE PERFORMANCE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58700DE-8BCD-733C-5240-D72534F92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63279"/>
              </p:ext>
            </p:extLst>
          </p:nvPr>
        </p:nvGraphicFramePr>
        <p:xfrm>
          <a:off x="708250" y="1130139"/>
          <a:ext cx="3126606" cy="1337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4199">
                  <a:extLst>
                    <a:ext uri="{9D8B030D-6E8A-4147-A177-3AD203B41FA5}">
                      <a16:colId xmlns:a16="http://schemas.microsoft.com/office/drawing/2014/main" val="3496986611"/>
                    </a:ext>
                  </a:extLst>
                </a:gridCol>
                <a:gridCol w="972407">
                  <a:extLst>
                    <a:ext uri="{9D8B030D-6E8A-4147-A177-3AD203B41FA5}">
                      <a16:colId xmlns:a16="http://schemas.microsoft.com/office/drawing/2014/main" val="469174271"/>
                    </a:ext>
                  </a:extLst>
                </a:gridCol>
              </a:tblGrid>
              <a:tr h="267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KEY METRICS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Value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1551788"/>
                  </a:ext>
                </a:extLst>
              </a:tr>
              <a:tr h="267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Total Revenue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£173,425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3321836"/>
                  </a:ext>
                </a:extLst>
              </a:tr>
              <a:tr h="267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Average Revenue per Patient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£2,709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986627"/>
                  </a:ext>
                </a:extLst>
              </a:tr>
              <a:tr h="267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Total Patients_id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439914"/>
                  </a:ext>
                </a:extLst>
              </a:tr>
              <a:tr h="267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Average Revenue per Doctor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£17,342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5568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56CFFC-E8DA-871D-9BFA-FE9807598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72841"/>
              </p:ext>
            </p:extLst>
          </p:nvPr>
        </p:nvGraphicFramePr>
        <p:xfrm>
          <a:off x="706120" y="784060"/>
          <a:ext cx="3437616" cy="184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7616">
                  <a:extLst>
                    <a:ext uri="{9D8B030D-6E8A-4147-A177-3AD203B41FA5}">
                      <a16:colId xmlns:a16="http://schemas.microsoft.com/office/drawing/2014/main" val="173259892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KEY PERFORMANCE INDICATORS. Based on Paid bills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380887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AB92A9-B9A5-E3F1-7726-5D87EA818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10601"/>
              </p:ext>
            </p:extLst>
          </p:nvPr>
        </p:nvGraphicFramePr>
        <p:xfrm>
          <a:off x="653901" y="3672740"/>
          <a:ext cx="5029200" cy="1262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6328232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033471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95143376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14147675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4697326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Treatment Type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Patient_id Count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Revenue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Avg revenue/patient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% of Total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173795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£47,979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£2,822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27.67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53723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£43,064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£3,076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24.83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04156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Chemotherapy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£32,607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£2,508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18.8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5642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Physiotherapy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£32,251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£2,932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18.6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70077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ECG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£17,523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£1,947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10.1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9104365"/>
                  </a:ext>
                </a:extLst>
              </a:tr>
            </a:tbl>
          </a:graphicData>
        </a:graphic>
      </p:graphicFrame>
      <p:pic>
        <p:nvPicPr>
          <p:cNvPr id="7" name="Graphic 6" descr="Checklist with solid fill">
            <a:extLst>
              <a:ext uri="{FF2B5EF4-FFF2-40B4-BE49-F238E27FC236}">
                <a16:creationId xmlns:a16="http://schemas.microsoft.com/office/drawing/2014/main" id="{0CC7E59C-CBBA-EB71-71E4-7FF31FC08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54" y="89562"/>
            <a:ext cx="590300" cy="5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872F7E-A1E7-3007-E696-B6B588821259}"/>
              </a:ext>
            </a:extLst>
          </p:cNvPr>
          <p:cNvSpPr txBox="1"/>
          <p:nvPr/>
        </p:nvSpPr>
        <p:spPr>
          <a:xfrm>
            <a:off x="693607" y="245480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Revenue by Treatment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898CE-0169-D17A-7DE7-50B807E8F9F9}"/>
              </a:ext>
            </a:extLst>
          </p:cNvPr>
          <p:cNvSpPr txBox="1"/>
          <p:nvPr/>
        </p:nvSpPr>
        <p:spPr>
          <a:xfrm>
            <a:off x="220946" y="905055"/>
            <a:ext cx="517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Top Performing Treatment (by revenue)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00D516-0AEB-24DF-1103-64D26AFD6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64272"/>
              </p:ext>
            </p:extLst>
          </p:nvPr>
        </p:nvGraphicFramePr>
        <p:xfrm>
          <a:off x="220946" y="1423957"/>
          <a:ext cx="5650055" cy="1262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710">
                  <a:extLst>
                    <a:ext uri="{9D8B030D-6E8A-4147-A177-3AD203B41FA5}">
                      <a16:colId xmlns:a16="http://schemas.microsoft.com/office/drawing/2014/main" val="3012043457"/>
                    </a:ext>
                  </a:extLst>
                </a:gridCol>
                <a:gridCol w="1141425">
                  <a:extLst>
                    <a:ext uri="{9D8B030D-6E8A-4147-A177-3AD203B41FA5}">
                      <a16:colId xmlns:a16="http://schemas.microsoft.com/office/drawing/2014/main" val="2799626979"/>
                    </a:ext>
                  </a:extLst>
                </a:gridCol>
                <a:gridCol w="1112890">
                  <a:extLst>
                    <a:ext uri="{9D8B030D-6E8A-4147-A177-3AD203B41FA5}">
                      <a16:colId xmlns:a16="http://schemas.microsoft.com/office/drawing/2014/main" val="459017991"/>
                    </a:ext>
                  </a:extLst>
                </a:gridCol>
                <a:gridCol w="1156292">
                  <a:extLst>
                    <a:ext uri="{9D8B030D-6E8A-4147-A177-3AD203B41FA5}">
                      <a16:colId xmlns:a16="http://schemas.microsoft.com/office/drawing/2014/main" val="2847140149"/>
                    </a:ext>
                  </a:extLst>
                </a:gridCol>
                <a:gridCol w="869738">
                  <a:extLst>
                    <a:ext uri="{9D8B030D-6E8A-4147-A177-3AD203B41FA5}">
                      <a16:colId xmlns:a16="http://schemas.microsoft.com/office/drawing/2014/main" val="14454010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Treatment Type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Patient_id Count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Revenue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Avg revenue/patient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% of Total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31575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£47,979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£2,822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27.67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47845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£43,064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£3,076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24.83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738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Chemotherapy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£32,607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£2,508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18.8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0092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Physiotherapy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£32,251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£2,932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18.6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20875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ECG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£17,523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£1,947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10.1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7511785"/>
                  </a:ext>
                </a:extLst>
              </a:tr>
            </a:tbl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8EFD1789-2046-4E15-7E8E-BC1256BB0C0E}"/>
              </a:ext>
            </a:extLst>
          </p:cNvPr>
          <p:cNvSpPr txBox="1">
            <a:spLocks/>
          </p:cNvSpPr>
          <p:nvPr/>
        </p:nvSpPr>
        <p:spPr>
          <a:xfrm>
            <a:off x="8788179" y="54261"/>
            <a:ext cx="3403821" cy="25472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>
                <a:solidFill>
                  <a:schemeClr val="tx1"/>
                </a:solidFill>
              </a:rPr>
              <a:t>SELECT </a:t>
            </a:r>
          </a:p>
          <a:p>
            <a:r>
              <a:rPr lang="en-GB" dirty="0">
                <a:solidFill>
                  <a:schemeClr val="tx1"/>
                </a:solidFill>
              </a:rPr>
              <a:t>   </a:t>
            </a:r>
            <a:r>
              <a:rPr lang="en-GB" dirty="0" err="1">
                <a:solidFill>
                  <a:schemeClr val="tx1"/>
                </a:solidFill>
              </a:rPr>
              <a:t>t.treatment_type</a:t>
            </a:r>
            <a:r>
              <a:rPr lang="en-GB" dirty="0">
                <a:solidFill>
                  <a:schemeClr val="tx1"/>
                </a:solidFill>
              </a:rPr>
              <a:t>, COUNT(</a:t>
            </a:r>
            <a:r>
              <a:rPr lang="en-GB" dirty="0" err="1">
                <a:solidFill>
                  <a:schemeClr val="tx1"/>
                </a:solidFill>
              </a:rPr>
              <a:t>b.patient_id</a:t>
            </a:r>
            <a:r>
              <a:rPr lang="en-GB" dirty="0">
                <a:solidFill>
                  <a:schemeClr val="tx1"/>
                </a:solidFill>
              </a:rPr>
              <a:t>) AS </a:t>
            </a:r>
            <a:r>
              <a:rPr lang="en-GB" b="1" dirty="0" err="1">
                <a:solidFill>
                  <a:schemeClr val="tx1"/>
                </a:solidFill>
              </a:rPr>
              <a:t>patient_count</a:t>
            </a:r>
            <a:r>
              <a:rPr lang="en-GB" dirty="0">
                <a:solidFill>
                  <a:schemeClr val="tx1"/>
                </a:solidFill>
              </a:rPr>
              <a:t>,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),0) AS </a:t>
            </a:r>
            <a:r>
              <a:rPr lang="en-GB" b="1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,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)/ COUNT(</a:t>
            </a:r>
            <a:r>
              <a:rPr lang="en-GB" dirty="0" err="1">
                <a:solidFill>
                  <a:schemeClr val="tx1"/>
                </a:solidFill>
              </a:rPr>
              <a:t>b.patient_id</a:t>
            </a:r>
            <a:r>
              <a:rPr lang="en-GB" dirty="0">
                <a:solidFill>
                  <a:schemeClr val="tx1"/>
                </a:solidFill>
              </a:rPr>
              <a:t>),1) AS </a:t>
            </a:r>
            <a:r>
              <a:rPr lang="en-GB" b="1" dirty="0" err="1">
                <a:solidFill>
                  <a:schemeClr val="tx1"/>
                </a:solidFill>
              </a:rPr>
              <a:t>avg_revenue_per_patient</a:t>
            </a:r>
            <a:r>
              <a:rPr lang="en-GB" dirty="0">
                <a:solidFill>
                  <a:schemeClr val="tx1"/>
                </a:solidFill>
              </a:rPr>
              <a:t>,</a:t>
            </a:r>
          </a:p>
          <a:p>
            <a:r>
              <a:rPr lang="en-GB" dirty="0">
                <a:solidFill>
                  <a:schemeClr val="tx1"/>
                </a:solidFill>
              </a:rPr>
              <a:t>    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 /  (SELECT 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 FROM billing b 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 = 'Paid') * 100, 2) AS </a:t>
            </a:r>
            <a:r>
              <a:rPr lang="en-GB" b="1" dirty="0" err="1">
                <a:solidFill>
                  <a:schemeClr val="tx1"/>
                </a:solidFill>
              </a:rPr>
              <a:t>percentage_of_total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    JOIN treatments t     ON </a:t>
            </a:r>
            <a:r>
              <a:rPr lang="en-GB" dirty="0" err="1">
                <a:solidFill>
                  <a:schemeClr val="tx1"/>
                </a:solidFill>
              </a:rPr>
              <a:t>b.treatment_id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t.treatment_id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appointments a   ON </a:t>
            </a:r>
            <a:r>
              <a:rPr lang="en-GB" dirty="0" err="1">
                <a:solidFill>
                  <a:schemeClr val="tx1"/>
                </a:solidFill>
              </a:rPr>
              <a:t>t.appointment_id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a.appointment_id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= "Paid"</a:t>
            </a:r>
          </a:p>
          <a:p>
            <a:r>
              <a:rPr lang="en-GB" dirty="0">
                <a:solidFill>
                  <a:schemeClr val="tx1"/>
                </a:solidFill>
              </a:rPr>
              <a:t>    GROUP BY </a:t>
            </a:r>
            <a:r>
              <a:rPr lang="en-GB" dirty="0" err="1">
                <a:solidFill>
                  <a:schemeClr val="tx1"/>
                </a:solidFill>
              </a:rPr>
              <a:t>treatment_type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ORDER BY </a:t>
            </a:r>
            <a:r>
              <a:rPr lang="en-GB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 DESC;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3C097-E241-2582-848B-9D83FA4521E4}"/>
              </a:ext>
            </a:extLst>
          </p:cNvPr>
          <p:cNvSpPr txBox="1"/>
          <p:nvPr/>
        </p:nvSpPr>
        <p:spPr>
          <a:xfrm>
            <a:off x="220946" y="5434043"/>
            <a:ext cx="11604131" cy="1200329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/>
              <a:t>Performance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X-Ray drives 28% of the revenue </a:t>
            </a:r>
            <a:r>
              <a:rPr lang="en-US" i="1" dirty="0"/>
              <a:t>→ top revenue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X-Ray and MRI account for over half of revenue </a:t>
            </a:r>
            <a:r>
              <a:rPr lang="en-US" i="1" dirty="0"/>
              <a:t>→ highest value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MRI leads in top per-patient revenue </a:t>
            </a:r>
            <a:r>
              <a:rPr lang="en-US" i="1" dirty="0"/>
              <a:t>→ </a:t>
            </a:r>
            <a:r>
              <a:rPr lang="en-GB" dirty="0"/>
              <a:t>most profitable treatment, investment </a:t>
            </a:r>
            <a:r>
              <a:rPr lang="en-US" i="1" dirty="0"/>
              <a:t>opportunity</a:t>
            </a:r>
            <a:endParaRPr lang="en-GB" i="1" dirty="0"/>
          </a:p>
        </p:txBody>
      </p:sp>
      <p:pic>
        <p:nvPicPr>
          <p:cNvPr id="3" name="Graphic 2" descr="Dollar with solid fill">
            <a:extLst>
              <a:ext uri="{FF2B5EF4-FFF2-40B4-BE49-F238E27FC236}">
                <a16:creationId xmlns:a16="http://schemas.microsoft.com/office/drawing/2014/main" id="{EF27A71A-B0B1-A22D-C4C4-9C7FEAB87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15" y="98726"/>
            <a:ext cx="631371" cy="631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6C9914-14A8-3CCE-A1CC-251286228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41" y="3078380"/>
            <a:ext cx="3016027" cy="1862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DA1BED-59D6-F8E0-B75B-2616D44BE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560" y="3078380"/>
            <a:ext cx="2811237" cy="18834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CDFB41-5360-ECC4-14B5-38BECD5E3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393" y="3149331"/>
            <a:ext cx="2197213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6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625AAACE-3591-AACD-DD03-580CC382C1AC}"/>
              </a:ext>
            </a:extLst>
          </p:cNvPr>
          <p:cNvSpPr txBox="1">
            <a:spLocks/>
          </p:cNvSpPr>
          <p:nvPr/>
        </p:nvSpPr>
        <p:spPr>
          <a:xfrm>
            <a:off x="9351390" y="98726"/>
            <a:ext cx="2840610" cy="3424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--Revenue by Doctor and treatment, patient count, revenue by patient</a:t>
            </a:r>
          </a:p>
          <a:p>
            <a:r>
              <a:rPr lang="en-GB" dirty="0">
                <a:solidFill>
                  <a:schemeClr val="tx1"/>
                </a:solidFill>
              </a:rPr>
              <a:t> SELECT </a:t>
            </a:r>
          </a:p>
          <a:p>
            <a:r>
              <a:rPr lang="en-GB" dirty="0">
                <a:solidFill>
                  <a:schemeClr val="tx1"/>
                </a:solidFill>
              </a:rPr>
              <a:t>    CONCAT("Dr. ",</a:t>
            </a:r>
            <a:r>
              <a:rPr lang="en-GB" dirty="0" err="1">
                <a:solidFill>
                  <a:schemeClr val="tx1"/>
                </a:solidFill>
              </a:rPr>
              <a:t>d.last_name</a:t>
            </a:r>
            <a:r>
              <a:rPr lang="en-GB" dirty="0">
                <a:solidFill>
                  <a:schemeClr val="tx1"/>
                </a:solidFill>
              </a:rPr>
              <a:t>) AS </a:t>
            </a:r>
            <a:r>
              <a:rPr lang="en-GB" b="1" dirty="0">
                <a:solidFill>
                  <a:schemeClr val="tx1"/>
                </a:solidFill>
              </a:rPr>
              <a:t>Doctor</a:t>
            </a:r>
            <a:r>
              <a:rPr lang="en-GB" dirty="0">
                <a:solidFill>
                  <a:schemeClr val="tx1"/>
                </a:solidFill>
              </a:rPr>
              <a:t>, </a:t>
            </a:r>
          </a:p>
          <a:p>
            <a:r>
              <a:rPr lang="en-GB" dirty="0">
                <a:solidFill>
                  <a:schemeClr val="tx1"/>
                </a:solidFill>
              </a:rPr>
              <a:t>    </a:t>
            </a:r>
            <a:r>
              <a:rPr lang="en-GB" dirty="0" err="1">
                <a:solidFill>
                  <a:schemeClr val="tx1"/>
                </a:solidFill>
              </a:rPr>
              <a:t>t.treatment_type</a:t>
            </a:r>
            <a:r>
              <a:rPr lang="en-GB" dirty="0">
                <a:solidFill>
                  <a:schemeClr val="tx1"/>
                </a:solidFill>
              </a:rPr>
              <a:t> AS </a:t>
            </a:r>
            <a:r>
              <a:rPr lang="en-GB" b="1" dirty="0">
                <a:solidFill>
                  <a:schemeClr val="tx1"/>
                </a:solidFill>
              </a:rPr>
              <a:t>treatment</a:t>
            </a:r>
            <a:r>
              <a:rPr lang="en-GB" dirty="0">
                <a:solidFill>
                  <a:schemeClr val="tx1"/>
                </a:solidFill>
              </a:rPr>
              <a:t>,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),0) AS </a:t>
            </a:r>
            <a:r>
              <a:rPr lang="en-GB" b="1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, </a:t>
            </a:r>
          </a:p>
          <a:p>
            <a:r>
              <a:rPr lang="en-GB" dirty="0">
                <a:solidFill>
                  <a:schemeClr val="tx1"/>
                </a:solidFill>
              </a:rPr>
              <a:t>    COUNT(DISTINCT </a:t>
            </a:r>
            <a:r>
              <a:rPr lang="en-GB" dirty="0" err="1">
                <a:solidFill>
                  <a:schemeClr val="tx1"/>
                </a:solidFill>
              </a:rPr>
              <a:t>b.patient_id</a:t>
            </a:r>
            <a:r>
              <a:rPr lang="en-GB" dirty="0">
                <a:solidFill>
                  <a:schemeClr val="tx1"/>
                </a:solidFill>
              </a:rPr>
              <a:t>) AS </a:t>
            </a:r>
            <a:r>
              <a:rPr lang="en-GB" b="1" dirty="0" err="1">
                <a:solidFill>
                  <a:schemeClr val="tx1"/>
                </a:solidFill>
              </a:rPr>
              <a:t>petient_count</a:t>
            </a:r>
            <a:r>
              <a:rPr lang="en-GB" dirty="0">
                <a:solidFill>
                  <a:schemeClr val="tx1"/>
                </a:solidFill>
              </a:rPr>
              <a:t>,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 / COUNT(DISTINCT </a:t>
            </a:r>
            <a:r>
              <a:rPr lang="en-GB" dirty="0" err="1">
                <a:solidFill>
                  <a:schemeClr val="tx1"/>
                </a:solidFill>
              </a:rPr>
              <a:t>b.patient_id</a:t>
            </a:r>
            <a:r>
              <a:rPr lang="en-GB" dirty="0">
                <a:solidFill>
                  <a:schemeClr val="tx1"/>
                </a:solidFill>
              </a:rPr>
              <a:t>),1)</a:t>
            </a:r>
          </a:p>
          <a:p>
            <a:r>
              <a:rPr lang="en-GB" dirty="0">
                <a:solidFill>
                  <a:schemeClr val="tx1"/>
                </a:solidFill>
              </a:rPr>
              <a:t>        AS </a:t>
            </a:r>
            <a:r>
              <a:rPr lang="en-GB" b="1" dirty="0" err="1">
                <a:solidFill>
                  <a:schemeClr val="tx1"/>
                </a:solidFill>
              </a:rPr>
              <a:t>revenue_by_Patient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    JOIN treatments t     	ON </a:t>
            </a:r>
            <a:r>
              <a:rPr lang="en-GB" dirty="0" err="1">
                <a:solidFill>
                  <a:schemeClr val="tx1"/>
                </a:solidFill>
              </a:rPr>
              <a:t>b.treatment_id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t.treatment_id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appointments a   ON </a:t>
            </a:r>
            <a:r>
              <a:rPr lang="en-GB" dirty="0" err="1">
                <a:solidFill>
                  <a:schemeClr val="tx1"/>
                </a:solidFill>
              </a:rPr>
              <a:t>t.appointment_id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a.appointment_id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 doctors d        	ON </a:t>
            </a:r>
            <a:r>
              <a:rPr lang="en-GB" dirty="0" err="1">
                <a:solidFill>
                  <a:schemeClr val="tx1"/>
                </a:solidFill>
              </a:rPr>
              <a:t>a.doctor_id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d.doctor_id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= "Paid"</a:t>
            </a:r>
          </a:p>
          <a:p>
            <a:r>
              <a:rPr lang="en-GB" dirty="0">
                <a:solidFill>
                  <a:schemeClr val="tx1"/>
                </a:solidFill>
              </a:rPr>
              <a:t>    GROUP BY </a:t>
            </a:r>
            <a:r>
              <a:rPr lang="en-GB" dirty="0" err="1">
                <a:solidFill>
                  <a:schemeClr val="tx1"/>
                </a:solidFill>
              </a:rPr>
              <a:t>d.last_name</a:t>
            </a:r>
            <a:r>
              <a:rPr lang="en-GB" dirty="0">
                <a:solidFill>
                  <a:schemeClr val="tx1"/>
                </a:solidFill>
              </a:rPr>
              <a:t>, treatment</a:t>
            </a:r>
          </a:p>
          <a:p>
            <a:r>
              <a:rPr lang="en-GB" dirty="0">
                <a:solidFill>
                  <a:schemeClr val="tx1"/>
                </a:solidFill>
              </a:rPr>
              <a:t>    ORDER BY </a:t>
            </a:r>
            <a:r>
              <a:rPr lang="en-GB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 DESC;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F5B21-97F1-9B01-280F-5804E261F40E}"/>
              </a:ext>
            </a:extLst>
          </p:cNvPr>
          <p:cNvSpPr txBox="1"/>
          <p:nvPr/>
        </p:nvSpPr>
        <p:spPr>
          <a:xfrm>
            <a:off x="161560" y="1462132"/>
            <a:ext cx="517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Revenue-Generating Doctor/Treatment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4EC51-2981-5BCB-A1E5-32ED4C7648C8}"/>
              </a:ext>
            </a:extLst>
          </p:cNvPr>
          <p:cNvSpPr txBox="1"/>
          <p:nvPr/>
        </p:nvSpPr>
        <p:spPr>
          <a:xfrm>
            <a:off x="293934" y="5756648"/>
            <a:ext cx="11604131" cy="923330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Performance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Dr. Smith (Chemo) has the highest revenue per patient → Best practices candidate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Dr. Davis (X Ray) sees most patients, but lower per-patient revenue → Opportunity for premium service offerings</a:t>
            </a:r>
            <a:endParaRPr lang="en-GB" b="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88BAD9-6801-101E-3E2E-A8731A344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77529"/>
              </p:ext>
            </p:extLst>
          </p:nvPr>
        </p:nvGraphicFramePr>
        <p:xfrm>
          <a:off x="293934" y="1926056"/>
          <a:ext cx="3607982" cy="2725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8456">
                  <a:extLst>
                    <a:ext uri="{9D8B030D-6E8A-4147-A177-3AD203B41FA5}">
                      <a16:colId xmlns:a16="http://schemas.microsoft.com/office/drawing/2014/main" val="1937734549"/>
                    </a:ext>
                  </a:extLst>
                </a:gridCol>
                <a:gridCol w="942753">
                  <a:extLst>
                    <a:ext uri="{9D8B030D-6E8A-4147-A177-3AD203B41FA5}">
                      <a16:colId xmlns:a16="http://schemas.microsoft.com/office/drawing/2014/main" val="750409247"/>
                    </a:ext>
                  </a:extLst>
                </a:gridCol>
                <a:gridCol w="559982">
                  <a:extLst>
                    <a:ext uri="{9D8B030D-6E8A-4147-A177-3AD203B41FA5}">
                      <a16:colId xmlns:a16="http://schemas.microsoft.com/office/drawing/2014/main" val="1118228179"/>
                    </a:ext>
                  </a:extLst>
                </a:gridCol>
                <a:gridCol w="531628">
                  <a:extLst>
                    <a:ext uri="{9D8B030D-6E8A-4147-A177-3AD203B41FA5}">
                      <a16:colId xmlns:a16="http://schemas.microsoft.com/office/drawing/2014/main" val="2416083791"/>
                    </a:ext>
                  </a:extLst>
                </a:gridCol>
                <a:gridCol w="815163">
                  <a:extLst>
                    <a:ext uri="{9D8B030D-6E8A-4147-A177-3AD203B41FA5}">
                      <a16:colId xmlns:a16="http://schemas.microsoft.com/office/drawing/2014/main" val="2388100370"/>
                    </a:ext>
                  </a:extLst>
                </a:gridCol>
              </a:tblGrid>
              <a:tr h="3567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Doctor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treatment_</a:t>
                      </a:r>
                    </a:p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type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total_</a:t>
                      </a:r>
                    </a:p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revenue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patient_</a:t>
                      </a:r>
                    </a:p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count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Revenue_by</a:t>
                      </a:r>
                      <a:endParaRPr lang="en-GB" sz="1000" b="1" u="none" strike="noStrike" dirty="0">
                        <a:effectLst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_Patient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3902177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Taylor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£18,538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£3,708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39933268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Taylor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Physiotherapy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£15,199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£3,040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0041248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Davis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Chemotherapy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£14,220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£2,844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6208676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Dr. Davis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£12,096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£2,419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6683068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Jones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£11,279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£3,760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89224982"/>
                  </a:ext>
                </a:extLst>
              </a:tr>
              <a:tr h="1887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Wilson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£9,760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£3,253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5017883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Smith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£9,515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£2,379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9059895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Davis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£8,891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£4,446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3961748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Davis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Physiotherapy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£6,808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£3,404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847192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Taylor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Chemotherapy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£6,674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£2,225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0821176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Dr. Taylor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£6,535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£3,268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81187982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Taylor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ECG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£5,463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£1,821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94926402"/>
                  </a:ext>
                </a:extLst>
              </a:tr>
              <a:tr h="181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Dr. Smith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Chemotherapy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£4,834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£4,834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6657464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B576D9F8-8E51-6149-81F4-E8CCE286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525" y="730097"/>
            <a:ext cx="3465666" cy="28044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557848A-D7DD-1434-7F63-0CCECC14E935}"/>
              </a:ext>
            </a:extLst>
          </p:cNvPr>
          <p:cNvSpPr txBox="1"/>
          <p:nvPr/>
        </p:nvSpPr>
        <p:spPr>
          <a:xfrm>
            <a:off x="658759" y="205880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2 Revenue by Doctor/Treatment</a:t>
            </a:r>
          </a:p>
        </p:txBody>
      </p:sp>
      <p:pic>
        <p:nvPicPr>
          <p:cNvPr id="2" name="Graphic 1" descr="Dollar with solid fill">
            <a:extLst>
              <a:ext uri="{FF2B5EF4-FFF2-40B4-BE49-F238E27FC236}">
                <a16:creationId xmlns:a16="http://schemas.microsoft.com/office/drawing/2014/main" id="{1116CE49-777A-BC7F-D088-7CF5800D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15" y="98726"/>
            <a:ext cx="631371" cy="6313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E36DDF-75C7-33E5-30BB-1F6EA897D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35" y="4007031"/>
            <a:ext cx="4095856" cy="157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4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1BD95E-32BC-6F2B-7BE9-882EC701D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37604"/>
              </p:ext>
            </p:extLst>
          </p:nvPr>
        </p:nvGraphicFramePr>
        <p:xfrm>
          <a:off x="503234" y="816949"/>
          <a:ext cx="3428173" cy="182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186">
                  <a:extLst>
                    <a:ext uri="{9D8B030D-6E8A-4147-A177-3AD203B41FA5}">
                      <a16:colId xmlns:a16="http://schemas.microsoft.com/office/drawing/2014/main" val="3227216284"/>
                    </a:ext>
                  </a:extLst>
                </a:gridCol>
                <a:gridCol w="886202">
                  <a:extLst>
                    <a:ext uri="{9D8B030D-6E8A-4147-A177-3AD203B41FA5}">
                      <a16:colId xmlns:a16="http://schemas.microsoft.com/office/drawing/2014/main" val="1943368108"/>
                    </a:ext>
                  </a:extLst>
                </a:gridCol>
                <a:gridCol w="1377024">
                  <a:extLst>
                    <a:ext uri="{9D8B030D-6E8A-4147-A177-3AD203B41FA5}">
                      <a16:colId xmlns:a16="http://schemas.microsoft.com/office/drawing/2014/main" val="2764426067"/>
                    </a:ext>
                  </a:extLst>
                </a:gridCol>
                <a:gridCol w="687761">
                  <a:extLst>
                    <a:ext uri="{9D8B030D-6E8A-4147-A177-3AD203B41FA5}">
                      <a16:colId xmlns:a16="http://schemas.microsoft.com/office/drawing/2014/main" val="341034686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Rank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Doctor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total_revenue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%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6254914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Dr. Taylor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52410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30.22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588038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Dr. Davis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rgbClr val="FF0000"/>
                          </a:solidFill>
                          <a:effectLst/>
                        </a:rPr>
                        <a:t>44975</a:t>
                      </a:r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25.93</a:t>
                      </a:r>
                      <a:endParaRPr lang="en-GB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2313612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Smith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26491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15.28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1431037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Wilson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18936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10.92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346023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Jones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17693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10.2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195890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Dr. Brown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12920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7.45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589428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E7589A-2260-7EFC-C216-47F2AD9EEE64}"/>
              </a:ext>
            </a:extLst>
          </p:cNvPr>
          <p:cNvSpPr txBox="1"/>
          <p:nvPr/>
        </p:nvSpPr>
        <p:spPr>
          <a:xfrm>
            <a:off x="343769" y="6038311"/>
            <a:ext cx="10877384" cy="646331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Performance Insights:</a:t>
            </a:r>
          </a:p>
          <a:p>
            <a:r>
              <a:rPr lang="en-US" b="0" dirty="0"/>
              <a:t>Top 2 doctors (Taylor, Davis) generate 56% of total revenue → Retention critical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F2D0132-0CF3-3E96-1768-495143CFDD5B}"/>
              </a:ext>
            </a:extLst>
          </p:cNvPr>
          <p:cNvSpPr txBox="1">
            <a:spLocks/>
          </p:cNvSpPr>
          <p:nvPr/>
        </p:nvSpPr>
        <p:spPr>
          <a:xfrm>
            <a:off x="9039225" y="98726"/>
            <a:ext cx="3276600" cy="3056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--Revenue by Doctor, Doc % revenue</a:t>
            </a:r>
          </a:p>
          <a:p>
            <a:r>
              <a:rPr lang="en-GB" dirty="0">
                <a:solidFill>
                  <a:schemeClr val="tx1"/>
                </a:solidFill>
              </a:rPr>
              <a:t> SELECT </a:t>
            </a:r>
          </a:p>
          <a:p>
            <a:r>
              <a:rPr lang="en-GB" dirty="0">
                <a:solidFill>
                  <a:schemeClr val="tx1"/>
                </a:solidFill>
              </a:rPr>
              <a:t>    CONCAT("Dr. ",</a:t>
            </a:r>
            <a:r>
              <a:rPr lang="en-GB" dirty="0" err="1">
                <a:solidFill>
                  <a:schemeClr val="tx1"/>
                </a:solidFill>
              </a:rPr>
              <a:t>d.last_name</a:t>
            </a:r>
            <a:r>
              <a:rPr lang="en-GB" dirty="0">
                <a:solidFill>
                  <a:schemeClr val="tx1"/>
                </a:solidFill>
              </a:rPr>
              <a:t>) AS </a:t>
            </a:r>
            <a:r>
              <a:rPr lang="en-GB" b="1" dirty="0">
                <a:solidFill>
                  <a:schemeClr val="tx1"/>
                </a:solidFill>
              </a:rPr>
              <a:t>Doctor</a:t>
            </a:r>
            <a:r>
              <a:rPr lang="en-GB" dirty="0">
                <a:solidFill>
                  <a:schemeClr val="tx1"/>
                </a:solidFill>
              </a:rPr>
              <a:t>, 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),0) AS </a:t>
            </a:r>
            <a:r>
              <a:rPr lang="en-GB" b="1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, </a:t>
            </a:r>
          </a:p>
          <a:p>
            <a:r>
              <a:rPr lang="en-GB" dirty="0">
                <a:solidFill>
                  <a:schemeClr val="tx1"/>
                </a:solidFill>
              </a:rPr>
              <a:t>    ROUND(SUM(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 /  (SELECT SUM(</a:t>
            </a:r>
            <a:r>
              <a:rPr lang="en-GB" dirty="0" err="1">
                <a:solidFill>
                  <a:schemeClr val="tx1"/>
                </a:solidFill>
              </a:rPr>
              <a:t>b.amount</a:t>
            </a:r>
            <a:r>
              <a:rPr lang="en-GB" dirty="0">
                <a:solidFill>
                  <a:schemeClr val="tx1"/>
                </a:solidFill>
              </a:rPr>
              <a:t>) 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             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 = 'Paid') * 100, 2) 	AS </a:t>
            </a:r>
            <a:r>
              <a:rPr lang="en-GB" b="1" dirty="0" err="1">
                <a:solidFill>
                  <a:schemeClr val="tx1"/>
                </a:solidFill>
              </a:rPr>
              <a:t>percentage_of_total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    JOIN treatments t     ON </a:t>
            </a:r>
            <a:r>
              <a:rPr lang="en-GB" dirty="0" err="1">
                <a:solidFill>
                  <a:schemeClr val="tx1"/>
                </a:solidFill>
              </a:rPr>
              <a:t>b.treatment_id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t.treatment_id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appointments a   ON </a:t>
            </a:r>
            <a:r>
              <a:rPr lang="en-GB" dirty="0" err="1">
                <a:solidFill>
                  <a:schemeClr val="tx1"/>
                </a:solidFill>
              </a:rPr>
              <a:t>t.appointment_id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a.appointment_id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JOIN doctors d        ON </a:t>
            </a:r>
            <a:r>
              <a:rPr lang="en-GB" dirty="0" err="1">
                <a:solidFill>
                  <a:schemeClr val="tx1"/>
                </a:solidFill>
              </a:rPr>
              <a:t>a.doctor_id</a:t>
            </a:r>
            <a:r>
              <a:rPr lang="en-GB" dirty="0">
                <a:solidFill>
                  <a:schemeClr val="tx1"/>
                </a:solidFill>
              </a:rPr>
              <a:t> = </a:t>
            </a:r>
            <a:r>
              <a:rPr lang="en-GB" dirty="0" err="1">
                <a:solidFill>
                  <a:schemeClr val="tx1"/>
                </a:solidFill>
              </a:rPr>
              <a:t>d.doctor_id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= "Paid"</a:t>
            </a:r>
          </a:p>
          <a:p>
            <a:r>
              <a:rPr lang="en-GB" dirty="0">
                <a:solidFill>
                  <a:schemeClr val="tx1"/>
                </a:solidFill>
              </a:rPr>
              <a:t>    GROUP BY </a:t>
            </a:r>
            <a:r>
              <a:rPr lang="en-GB" dirty="0" err="1">
                <a:solidFill>
                  <a:schemeClr val="tx1"/>
                </a:solidFill>
              </a:rPr>
              <a:t>d.last_name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    ORDER BY </a:t>
            </a:r>
            <a:r>
              <a:rPr lang="en-GB" dirty="0" err="1">
                <a:solidFill>
                  <a:schemeClr val="tx1"/>
                </a:solidFill>
              </a:rPr>
              <a:t>total_revenue</a:t>
            </a:r>
            <a:r>
              <a:rPr lang="en-GB" dirty="0">
                <a:solidFill>
                  <a:schemeClr val="tx1"/>
                </a:solidFill>
              </a:rPr>
              <a:t> DESC;</a:t>
            </a:r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E81F3-D170-C0A9-6B20-BFFC66CBDD0C}"/>
              </a:ext>
            </a:extLst>
          </p:cNvPr>
          <p:cNvSpPr txBox="1"/>
          <p:nvPr/>
        </p:nvSpPr>
        <p:spPr>
          <a:xfrm>
            <a:off x="642213" y="173358"/>
            <a:ext cx="6328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3 Revenue by Doctor (All treatments combined)</a:t>
            </a:r>
          </a:p>
        </p:txBody>
      </p:sp>
      <p:pic>
        <p:nvPicPr>
          <p:cNvPr id="2" name="Graphic 1" descr="Dollar with solid fill">
            <a:extLst>
              <a:ext uri="{FF2B5EF4-FFF2-40B4-BE49-F238E27FC236}">
                <a16:creationId xmlns:a16="http://schemas.microsoft.com/office/drawing/2014/main" id="{61D4AFDE-AACC-7CEA-26D5-8FCDAD3C4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15" y="98726"/>
            <a:ext cx="631371" cy="6313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ED0C20-1FCB-EAC8-9AE7-DAB3CA18E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447" y="3155247"/>
            <a:ext cx="3068027" cy="21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4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BBFCB9-9BFD-68AD-E82B-274C6562760E}"/>
              </a:ext>
            </a:extLst>
          </p:cNvPr>
          <p:cNvSpPr txBox="1"/>
          <p:nvPr/>
        </p:nvSpPr>
        <p:spPr>
          <a:xfrm>
            <a:off x="377185" y="865756"/>
            <a:ext cx="517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High Value patient segmentation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AA62A02-70CE-67B2-2B79-6E5C40DD2C27}"/>
              </a:ext>
            </a:extLst>
          </p:cNvPr>
          <p:cNvSpPr txBox="1">
            <a:spLocks/>
          </p:cNvSpPr>
          <p:nvPr/>
        </p:nvSpPr>
        <p:spPr>
          <a:xfrm>
            <a:off x="8927450" y="176557"/>
            <a:ext cx="3264550" cy="4032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-</a:t>
            </a:r>
            <a:r>
              <a:rPr lang="en-US" dirty="0"/>
              <a:t>---CASE --Segment High-Value Patients</a:t>
            </a:r>
          </a:p>
          <a:p>
            <a:r>
              <a:rPr lang="en-US" dirty="0">
                <a:solidFill>
                  <a:schemeClr val="tx1"/>
                </a:solidFill>
              </a:rPr>
              <a:t>SELECT </a:t>
            </a:r>
          </a:p>
          <a:p>
            <a:r>
              <a:rPr lang="en-US" dirty="0">
                <a:solidFill>
                  <a:schemeClr val="tx1"/>
                </a:solidFill>
              </a:rPr>
              <a:t>    CASE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WHEN amount &lt; 1500 THEN "4 Low Value Patients"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WHEN amount BETWEEN  1500 AND 3000 THEN "3 Medium Value Patients"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WHEN amount BETWEEN 3000 AND 4000 THEN "2 High Value Patients"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ELSE "1 Very High Value Patients"</a:t>
            </a:r>
          </a:p>
          <a:p>
            <a:r>
              <a:rPr lang="en-US" dirty="0">
                <a:solidFill>
                  <a:schemeClr val="tx1"/>
                </a:solidFill>
              </a:rPr>
              <a:t>    END AS </a:t>
            </a:r>
            <a:r>
              <a:rPr lang="en-US" b="1" dirty="0" err="1">
                <a:solidFill>
                  <a:schemeClr val="tx1"/>
                </a:solidFill>
              </a:rPr>
              <a:t>value_amount_petients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</a:rPr>
              <a:t>    COUNT (*) AS </a:t>
            </a:r>
            <a:r>
              <a:rPr lang="en-US" b="1" dirty="0" err="1">
                <a:solidFill>
                  <a:schemeClr val="tx1"/>
                </a:solidFill>
              </a:rPr>
              <a:t>patient_count</a:t>
            </a:r>
            <a:r>
              <a:rPr lang="en-US" dirty="0">
                <a:solidFill>
                  <a:schemeClr val="tx1"/>
                </a:solidFill>
              </a:rPr>
              <a:t>, </a:t>
            </a:r>
          </a:p>
          <a:p>
            <a:r>
              <a:rPr lang="en-US" dirty="0">
                <a:solidFill>
                  <a:schemeClr val="tx1"/>
                </a:solidFill>
              </a:rPr>
              <a:t>    SUM(amount) AS </a:t>
            </a:r>
            <a:r>
              <a:rPr lang="en-US" b="1" dirty="0" err="1">
                <a:solidFill>
                  <a:schemeClr val="tx1"/>
                </a:solidFill>
              </a:rPr>
              <a:t>total_revenue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</a:rPr>
              <a:t>    ROUND(SUM(amount) /  (SELECT SUM(amount) FROM billing 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WHERE </a:t>
            </a:r>
            <a:r>
              <a:rPr lang="en-US" dirty="0" err="1">
                <a:solidFill>
                  <a:schemeClr val="tx1"/>
                </a:solidFill>
              </a:rPr>
              <a:t>payment_status</a:t>
            </a:r>
            <a:r>
              <a:rPr lang="en-US" dirty="0">
                <a:solidFill>
                  <a:schemeClr val="tx1"/>
                </a:solidFill>
              </a:rPr>
              <a:t> = 'Paid') * 100, 2) AS </a:t>
            </a:r>
            <a:r>
              <a:rPr lang="en-US" b="1" dirty="0" err="1">
                <a:solidFill>
                  <a:schemeClr val="tx1"/>
                </a:solidFill>
              </a:rPr>
              <a:t>percentage_of_revenue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FROM patients p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JOIN billing b </a:t>
            </a:r>
          </a:p>
          <a:p>
            <a:r>
              <a:rPr lang="en-US" dirty="0">
                <a:solidFill>
                  <a:schemeClr val="tx1"/>
                </a:solidFill>
              </a:rPr>
              <a:t>        ON </a:t>
            </a:r>
            <a:r>
              <a:rPr lang="en-US" dirty="0" err="1">
                <a:solidFill>
                  <a:schemeClr val="tx1"/>
                </a:solidFill>
              </a:rPr>
              <a:t>p.patient_id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b.patient_id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WHERE </a:t>
            </a:r>
            <a:r>
              <a:rPr lang="en-US" dirty="0" err="1">
                <a:solidFill>
                  <a:schemeClr val="tx1"/>
                </a:solidFill>
              </a:rPr>
              <a:t>payment_status</a:t>
            </a:r>
            <a:r>
              <a:rPr lang="en-US" dirty="0">
                <a:solidFill>
                  <a:schemeClr val="tx1"/>
                </a:solidFill>
              </a:rPr>
              <a:t>="Paid"</a:t>
            </a:r>
          </a:p>
          <a:p>
            <a:r>
              <a:rPr lang="en-US" dirty="0">
                <a:solidFill>
                  <a:schemeClr val="tx1"/>
                </a:solidFill>
              </a:rPr>
              <a:t>    GROUP BY </a:t>
            </a:r>
            <a:r>
              <a:rPr lang="en-US" dirty="0" err="1">
                <a:solidFill>
                  <a:schemeClr val="tx1"/>
                </a:solidFill>
              </a:rPr>
              <a:t>value_amount_petients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    ORDER BY </a:t>
            </a:r>
            <a:r>
              <a:rPr lang="en-US" dirty="0" err="1">
                <a:solidFill>
                  <a:schemeClr val="tx1"/>
                </a:solidFill>
              </a:rPr>
              <a:t>value_amount_petients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r>
              <a:rPr lang="en-GB" dirty="0">
                <a:solidFill>
                  <a:schemeClr val="tx1"/>
                </a:solidFill>
              </a:rPr>
              <a:t>   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2C40D3-F73F-E396-1C93-822754E5A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491154"/>
              </p:ext>
            </p:extLst>
          </p:nvPr>
        </p:nvGraphicFramePr>
        <p:xfrm>
          <a:off x="473207" y="1413156"/>
          <a:ext cx="58039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03405199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42626972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932412748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02121275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886423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Tier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Criteria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patient_count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total_revenue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% of total revenue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16421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 Very High Value Patients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&gt; 4000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£62,927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36.29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21521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 High Value Patients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&gt; 3000 AND &lt; 4000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£45,603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26.3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36263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 Medium Value Patients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&gt;1500 AND &lt; 3000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£47,932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27.64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28533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 Low Value Patients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&lt; 1500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£16,963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9.78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007682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41C3DD-0B82-7EA5-185C-131645E1A933}"/>
              </a:ext>
            </a:extLst>
          </p:cNvPr>
          <p:cNvSpPr txBox="1"/>
          <p:nvPr/>
        </p:nvSpPr>
        <p:spPr>
          <a:xfrm>
            <a:off x="377185" y="5801695"/>
            <a:ext cx="10877384" cy="923330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Performance Insights:</a:t>
            </a:r>
          </a:p>
          <a:p>
            <a:r>
              <a:rPr lang="en-US" b="0" dirty="0"/>
              <a:t>The top two tiers (27 patients) are responsible for nearly two-thirds of the total income → 80/20 rule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EEF9E-813D-ABDA-912E-EFE959C2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5" y="2707657"/>
            <a:ext cx="3754957" cy="2238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3AFFB0-9E53-6697-2A7E-84760F96B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536" y="2707657"/>
            <a:ext cx="3892750" cy="2381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CD6743-FEB5-50E3-F757-97415B7A0B72}"/>
              </a:ext>
            </a:extLst>
          </p:cNvPr>
          <p:cNvSpPr txBox="1"/>
          <p:nvPr/>
        </p:nvSpPr>
        <p:spPr>
          <a:xfrm>
            <a:off x="782279" y="176557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2</a:t>
            </a:r>
            <a:r>
              <a:rPr lang="en-GB" sz="2000" dirty="0"/>
              <a:t>. Segment </a:t>
            </a:r>
            <a:r>
              <a:rPr lang="en-GB" sz="2000" dirty="0">
                <a:solidFill>
                  <a:schemeClr val="dk1"/>
                </a:solidFill>
              </a:rPr>
              <a:t>high-value patients</a:t>
            </a:r>
            <a:endParaRPr lang="en-GB" sz="2000" dirty="0"/>
          </a:p>
        </p:txBody>
      </p:sp>
      <p:pic>
        <p:nvPicPr>
          <p:cNvPr id="3" name="Graphic 2" descr="Pyramid with levels with solid fill">
            <a:extLst>
              <a:ext uri="{FF2B5EF4-FFF2-40B4-BE49-F238E27FC236}">
                <a16:creationId xmlns:a16="http://schemas.microsoft.com/office/drawing/2014/main" id="{23C30083-6B3E-BA4A-1A5A-150386B3A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175" y="71345"/>
            <a:ext cx="716064" cy="71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8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1D2D93-667F-D401-797C-238F13FC697B}"/>
              </a:ext>
            </a:extLst>
          </p:cNvPr>
          <p:cNvSpPr txBox="1"/>
          <p:nvPr/>
        </p:nvSpPr>
        <p:spPr>
          <a:xfrm>
            <a:off x="947057" y="217655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3</a:t>
            </a:r>
            <a:r>
              <a:rPr lang="en-GB" sz="2000" dirty="0"/>
              <a:t>. </a:t>
            </a:r>
            <a:r>
              <a:rPr lang="en-GB" sz="2000" dirty="0">
                <a:solidFill>
                  <a:schemeClr val="dk1"/>
                </a:solidFill>
              </a:rPr>
              <a:t>Simulate pricing changes</a:t>
            </a:r>
            <a:endParaRPr lang="en-GB" sz="2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CA303B-A8E8-4CA3-2F74-97121DD8F9E9}"/>
              </a:ext>
            </a:extLst>
          </p:cNvPr>
          <p:cNvSpPr txBox="1">
            <a:spLocks/>
          </p:cNvSpPr>
          <p:nvPr/>
        </p:nvSpPr>
        <p:spPr>
          <a:xfrm>
            <a:off x="9626600" y="203200"/>
            <a:ext cx="2565400" cy="213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GB" dirty="0"/>
              <a:t>-</a:t>
            </a:r>
            <a:r>
              <a:rPr lang="en-US" dirty="0"/>
              <a:t>- +10% price increase SELECT </a:t>
            </a:r>
          </a:p>
          <a:p>
            <a:r>
              <a:rPr lang="en-US" dirty="0">
                <a:solidFill>
                  <a:schemeClr val="tx1"/>
                </a:solidFill>
              </a:rPr>
              <a:t>    SELECT </a:t>
            </a:r>
          </a:p>
          <a:p>
            <a:r>
              <a:rPr lang="en-US" dirty="0">
                <a:solidFill>
                  <a:schemeClr val="tx1"/>
                </a:solidFill>
              </a:rPr>
              <a:t>    </a:t>
            </a:r>
            <a:r>
              <a:rPr lang="en-US" dirty="0" err="1">
                <a:solidFill>
                  <a:schemeClr val="tx1"/>
                </a:solidFill>
              </a:rPr>
              <a:t>t.treatment_type</a:t>
            </a:r>
            <a:r>
              <a:rPr lang="en-US" dirty="0">
                <a:solidFill>
                  <a:schemeClr val="tx1"/>
                </a:solidFill>
              </a:rPr>
              <a:t>, ROUND(SUM (amount),0) AS </a:t>
            </a:r>
            <a:r>
              <a:rPr lang="en-US" dirty="0" err="1">
                <a:solidFill>
                  <a:schemeClr val="tx1"/>
                </a:solidFill>
              </a:rPr>
              <a:t>current_revenue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</a:rPr>
              <a:t>    ROUND(SUM(</a:t>
            </a:r>
            <a:r>
              <a:rPr lang="en-US" dirty="0" err="1">
                <a:solidFill>
                  <a:schemeClr val="tx1"/>
                </a:solidFill>
              </a:rPr>
              <a:t>b.amount</a:t>
            </a:r>
            <a:r>
              <a:rPr lang="en-US" dirty="0">
                <a:solidFill>
                  <a:schemeClr val="tx1"/>
                </a:solidFill>
              </a:rPr>
              <a:t> * 1.10),0) AS </a:t>
            </a:r>
            <a:r>
              <a:rPr lang="en-US" dirty="0" err="1">
                <a:solidFill>
                  <a:schemeClr val="tx1"/>
                </a:solidFill>
              </a:rPr>
              <a:t>projected_revenue</a:t>
            </a:r>
            <a:r>
              <a:rPr lang="en-US" dirty="0">
                <a:solidFill>
                  <a:schemeClr val="tx1"/>
                </a:solidFill>
              </a:rPr>
              <a:t>  </a:t>
            </a:r>
          </a:p>
          <a:p>
            <a:r>
              <a:rPr lang="en-US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US" dirty="0">
                <a:solidFill>
                  <a:schemeClr val="tx1"/>
                </a:solidFill>
              </a:rPr>
              <a:t>JOIN treatments t ON </a:t>
            </a:r>
            <a:r>
              <a:rPr lang="en-US" dirty="0" err="1">
                <a:solidFill>
                  <a:schemeClr val="tx1"/>
                </a:solidFill>
              </a:rPr>
              <a:t>b.treatment_id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t.treatment_id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WHERE </a:t>
            </a:r>
            <a:r>
              <a:rPr lang="en-US" dirty="0" err="1">
                <a:solidFill>
                  <a:schemeClr val="tx1"/>
                </a:solidFill>
              </a:rPr>
              <a:t>payment_status</a:t>
            </a:r>
            <a:r>
              <a:rPr lang="en-US" dirty="0">
                <a:solidFill>
                  <a:schemeClr val="tx1"/>
                </a:solidFill>
              </a:rPr>
              <a:t>= "Paid"</a:t>
            </a:r>
          </a:p>
          <a:p>
            <a:r>
              <a:rPr lang="en-US" dirty="0">
                <a:solidFill>
                  <a:schemeClr val="tx1"/>
                </a:solidFill>
              </a:rPr>
              <a:t>GROUP BY </a:t>
            </a:r>
            <a:r>
              <a:rPr lang="en-US" dirty="0" err="1">
                <a:solidFill>
                  <a:schemeClr val="tx1"/>
                </a:solidFill>
              </a:rPr>
              <a:t>t.treatment_type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ORDER BY </a:t>
            </a:r>
            <a:r>
              <a:rPr lang="en-US" dirty="0" err="1">
                <a:solidFill>
                  <a:schemeClr val="tx1"/>
                </a:solidFill>
              </a:rPr>
              <a:t>projected_revenue</a:t>
            </a:r>
            <a:r>
              <a:rPr lang="en-US" dirty="0">
                <a:solidFill>
                  <a:schemeClr val="tx1"/>
                </a:solidFill>
              </a:rPr>
              <a:t> DESC; </a:t>
            </a:r>
          </a:p>
          <a:p>
            <a:r>
              <a:rPr lang="en-GB" dirty="0">
                <a:solidFill>
                  <a:schemeClr val="tx1"/>
                </a:solidFill>
              </a:rPr>
              <a:t>  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708EBB-DAC9-63A3-35C7-83B58D7D5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90706"/>
              </p:ext>
            </p:extLst>
          </p:nvPr>
        </p:nvGraphicFramePr>
        <p:xfrm>
          <a:off x="485199" y="1864680"/>
          <a:ext cx="4039092" cy="156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8274">
                  <a:extLst>
                    <a:ext uri="{9D8B030D-6E8A-4147-A177-3AD203B41FA5}">
                      <a16:colId xmlns:a16="http://schemas.microsoft.com/office/drawing/2014/main" val="3183184811"/>
                    </a:ext>
                  </a:extLst>
                </a:gridCol>
                <a:gridCol w="1264258">
                  <a:extLst>
                    <a:ext uri="{9D8B030D-6E8A-4147-A177-3AD203B41FA5}">
                      <a16:colId xmlns:a16="http://schemas.microsoft.com/office/drawing/2014/main" val="1890297523"/>
                    </a:ext>
                  </a:extLst>
                </a:gridCol>
                <a:gridCol w="1286560">
                  <a:extLst>
                    <a:ext uri="{9D8B030D-6E8A-4147-A177-3AD203B41FA5}">
                      <a16:colId xmlns:a16="http://schemas.microsoft.com/office/drawing/2014/main" val="3203819717"/>
                    </a:ext>
                  </a:extLst>
                </a:gridCol>
              </a:tblGrid>
              <a:tr h="352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 err="1">
                          <a:effectLst/>
                        </a:rPr>
                        <a:t>treatment_type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 err="1">
                          <a:effectLst/>
                        </a:rPr>
                        <a:t>current_revenue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 err="1">
                          <a:effectLst/>
                        </a:rPr>
                        <a:t>projected_revenue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4985986"/>
                  </a:ext>
                </a:extLst>
              </a:tr>
              <a:tr h="2669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X-Ray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£47,979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£52,777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53485123"/>
                  </a:ext>
                </a:extLst>
              </a:tr>
              <a:tr h="2362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MRI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£43,064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£47,371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8066109"/>
                  </a:ext>
                </a:extLst>
              </a:tr>
              <a:tr h="2362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Chemotherapy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£32,607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£35,868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9693780"/>
                  </a:ext>
                </a:extLst>
              </a:tr>
              <a:tr h="2362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Physiotherapy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£32,251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£35,477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43197192"/>
                  </a:ext>
                </a:extLst>
              </a:tr>
              <a:tr h="2362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ECG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£17,523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£19,275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49441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F71AD6-64EA-06FF-5B9B-B029C8D19414}"/>
              </a:ext>
            </a:extLst>
          </p:cNvPr>
          <p:cNvSpPr txBox="1"/>
          <p:nvPr/>
        </p:nvSpPr>
        <p:spPr>
          <a:xfrm>
            <a:off x="485199" y="1326691"/>
            <a:ext cx="517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Revenue 10% increase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A48D15-7E14-3BE9-04CB-9A0F2B89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084" y="2929754"/>
            <a:ext cx="4012722" cy="2377688"/>
          </a:xfrm>
          <a:prstGeom prst="rect">
            <a:avLst/>
          </a:prstGeom>
        </p:spPr>
      </p:pic>
      <p:pic>
        <p:nvPicPr>
          <p:cNvPr id="11" name="Graphic 10" descr="Supply And Demand with solid fill">
            <a:extLst>
              <a:ext uri="{FF2B5EF4-FFF2-40B4-BE49-F238E27FC236}">
                <a16:creationId xmlns:a16="http://schemas.microsoft.com/office/drawing/2014/main" id="{6650D203-B1C6-6C16-CF3A-4087518DC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15" y="0"/>
            <a:ext cx="787042" cy="7870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D40B5F-44EF-CD74-626A-21D7E4C6D7D5}"/>
              </a:ext>
            </a:extLst>
          </p:cNvPr>
          <p:cNvSpPr txBox="1"/>
          <p:nvPr/>
        </p:nvSpPr>
        <p:spPr>
          <a:xfrm>
            <a:off x="301179" y="5900395"/>
            <a:ext cx="10877384" cy="646331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Performance Insights:</a:t>
            </a:r>
          </a:p>
          <a:p>
            <a:r>
              <a:rPr lang="en-GB" b="0" dirty="0"/>
              <a:t>Projection of prices increased by 10%</a:t>
            </a:r>
          </a:p>
        </p:txBody>
      </p:sp>
    </p:spTree>
    <p:extLst>
      <p:ext uri="{BB962C8B-B14F-4D97-AF65-F5344CB8AC3E}">
        <p14:creationId xmlns:p14="http://schemas.microsoft.com/office/powerpoint/2010/main" val="111111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C10CB8-C024-F911-090E-8F40486BD749}"/>
              </a:ext>
            </a:extLst>
          </p:cNvPr>
          <p:cNvSpPr txBox="1"/>
          <p:nvPr/>
        </p:nvSpPr>
        <p:spPr>
          <a:xfrm>
            <a:off x="686193" y="812347"/>
            <a:ext cx="517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Revenue trend over time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0BBFDD-2340-017E-3B4E-EAA3744C9164}"/>
              </a:ext>
            </a:extLst>
          </p:cNvPr>
          <p:cNvSpPr txBox="1">
            <a:spLocks/>
          </p:cNvSpPr>
          <p:nvPr/>
        </p:nvSpPr>
        <p:spPr>
          <a:xfrm>
            <a:off x="9576390" y="296228"/>
            <a:ext cx="2505003" cy="21634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--revenue by month</a:t>
            </a:r>
          </a:p>
          <a:p>
            <a:r>
              <a:rPr lang="en-US" dirty="0">
                <a:solidFill>
                  <a:schemeClr val="tx1"/>
                </a:solidFill>
              </a:rPr>
              <a:t>SELECT </a:t>
            </a:r>
          </a:p>
          <a:p>
            <a:r>
              <a:rPr lang="en-US" dirty="0">
                <a:solidFill>
                  <a:schemeClr val="tx1"/>
                </a:solidFill>
              </a:rPr>
              <a:t>    EXTRACT(MONTH FROM </a:t>
            </a:r>
            <a:r>
              <a:rPr lang="en-US" dirty="0" err="1">
                <a:solidFill>
                  <a:schemeClr val="tx1"/>
                </a:solidFill>
              </a:rPr>
              <a:t>b.bill_date</a:t>
            </a:r>
            <a:r>
              <a:rPr lang="en-US" dirty="0">
                <a:solidFill>
                  <a:schemeClr val="tx1"/>
                </a:solidFill>
              </a:rPr>
              <a:t>) AS </a:t>
            </a:r>
            <a:r>
              <a:rPr lang="en-US" b="1" dirty="0">
                <a:solidFill>
                  <a:schemeClr val="tx1"/>
                </a:solidFill>
              </a:rPr>
              <a:t>month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</a:rPr>
              <a:t>    EXTRACT(YEAR FROM </a:t>
            </a:r>
            <a:r>
              <a:rPr lang="en-US" dirty="0" err="1">
                <a:solidFill>
                  <a:schemeClr val="tx1"/>
                </a:solidFill>
              </a:rPr>
              <a:t>b.bill_date</a:t>
            </a:r>
            <a:r>
              <a:rPr lang="en-US" dirty="0">
                <a:solidFill>
                  <a:schemeClr val="tx1"/>
                </a:solidFill>
              </a:rPr>
              <a:t>) AS </a:t>
            </a:r>
            <a:r>
              <a:rPr lang="en-US" b="1" dirty="0">
                <a:solidFill>
                  <a:schemeClr val="tx1"/>
                </a:solidFill>
              </a:rPr>
              <a:t>year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r>
              <a:rPr lang="en-US" dirty="0">
                <a:solidFill>
                  <a:schemeClr val="tx1"/>
                </a:solidFill>
              </a:rPr>
              <a:t>    ROUND(sum(</a:t>
            </a:r>
            <a:r>
              <a:rPr lang="en-US" dirty="0" err="1">
                <a:solidFill>
                  <a:schemeClr val="tx1"/>
                </a:solidFill>
              </a:rPr>
              <a:t>b.amount</a:t>
            </a:r>
            <a:r>
              <a:rPr lang="en-US" dirty="0">
                <a:solidFill>
                  <a:schemeClr val="tx1"/>
                </a:solidFill>
              </a:rPr>
              <a:t>),2) AS </a:t>
            </a:r>
            <a:r>
              <a:rPr lang="en-US" b="1" dirty="0" err="1">
                <a:solidFill>
                  <a:schemeClr val="tx1"/>
                </a:solidFill>
              </a:rPr>
              <a:t>montly_amount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FROM billing b</a:t>
            </a:r>
          </a:p>
          <a:p>
            <a:r>
              <a:rPr lang="en-GB" dirty="0">
                <a:solidFill>
                  <a:schemeClr val="tx1"/>
                </a:solidFill>
              </a:rPr>
              <a:t>   WHERE </a:t>
            </a:r>
            <a:r>
              <a:rPr lang="en-GB" dirty="0" err="1">
                <a:solidFill>
                  <a:schemeClr val="tx1"/>
                </a:solidFill>
              </a:rPr>
              <a:t>payment_status</a:t>
            </a:r>
            <a:r>
              <a:rPr lang="en-GB" dirty="0">
                <a:solidFill>
                  <a:schemeClr val="tx1"/>
                </a:solidFill>
              </a:rPr>
              <a:t>= "Paid"</a:t>
            </a:r>
          </a:p>
          <a:p>
            <a:r>
              <a:rPr lang="en-US" dirty="0">
                <a:solidFill>
                  <a:schemeClr val="tx1"/>
                </a:solidFill>
              </a:rPr>
              <a:t>    GROUP BY year , month</a:t>
            </a:r>
          </a:p>
          <a:p>
            <a:r>
              <a:rPr lang="en-US" dirty="0">
                <a:solidFill>
                  <a:schemeClr val="tx1"/>
                </a:solidFill>
              </a:rPr>
              <a:t>    ORDER BY month;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r>
              <a:rPr lang="en-GB" dirty="0">
                <a:solidFill>
                  <a:schemeClr val="tx1"/>
                </a:solidFill>
              </a:rPr>
              <a:t>   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EAF54A-79D1-AF8D-217A-EE2DF141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461" y="2397833"/>
            <a:ext cx="4781796" cy="259093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F6D99C-05F2-10F1-F725-9E934E01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357642"/>
              </p:ext>
            </p:extLst>
          </p:nvPr>
        </p:nvGraphicFramePr>
        <p:xfrm>
          <a:off x="734890" y="1299350"/>
          <a:ext cx="2540000" cy="239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27325319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919531599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148546743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month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year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Revenue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819129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£20,081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02269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£3,033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37027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£19,596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52379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£10,380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77404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£12,892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73577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£30,474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60173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£7,638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167923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£11,838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23851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£16,204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74574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£15,709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4864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£11,308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04291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£14,273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627910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F208F66-D659-F6C9-482E-013A5EA5E6D7}"/>
              </a:ext>
            </a:extLst>
          </p:cNvPr>
          <p:cNvSpPr txBox="1"/>
          <p:nvPr/>
        </p:nvSpPr>
        <p:spPr>
          <a:xfrm>
            <a:off x="310416" y="5558650"/>
            <a:ext cx="11693742" cy="1200329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Performance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Revenue fluctuates significantly throughout the year (irregular monthly performance) → diversify revenue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Lowest Month: February—possible seasonal or operational factor → </a:t>
            </a:r>
            <a:r>
              <a:rPr lang="en-US" b="0" dirty="0" err="1"/>
              <a:t>analyse</a:t>
            </a:r>
            <a:r>
              <a:rPr lang="en-US" b="0" dirty="0"/>
              <a:t> root cause</a:t>
            </a:r>
            <a:endParaRPr lang="en-GB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Peak Month: June— highest-performing month, almost 2× the yearly average → </a:t>
            </a:r>
            <a:r>
              <a:rPr lang="en-US" b="0" dirty="0" err="1"/>
              <a:t>maximise</a:t>
            </a:r>
            <a:r>
              <a:rPr lang="en-US" b="0" dirty="0"/>
              <a:t> high-season revenue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C88880-D6CC-CC3E-7EF9-4DDDB4F1730B}"/>
              </a:ext>
            </a:extLst>
          </p:cNvPr>
          <p:cNvSpPr txBox="1"/>
          <p:nvPr/>
        </p:nvSpPr>
        <p:spPr>
          <a:xfrm>
            <a:off x="867528" y="233832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4</a:t>
            </a:r>
            <a:r>
              <a:rPr lang="en-GB" sz="2000" dirty="0"/>
              <a:t>. </a:t>
            </a:r>
            <a:r>
              <a:rPr lang="en-GB" sz="2000" dirty="0">
                <a:solidFill>
                  <a:schemeClr val="dk1"/>
                </a:solidFill>
              </a:rPr>
              <a:t>Track changes over time</a:t>
            </a:r>
            <a:endParaRPr lang="en-GB" sz="2000" dirty="0"/>
          </a:p>
        </p:txBody>
      </p:sp>
      <p:pic>
        <p:nvPicPr>
          <p:cNvPr id="6" name="Graphic 5" descr="Stopwatch 25% with solid fill">
            <a:extLst>
              <a:ext uri="{FF2B5EF4-FFF2-40B4-BE49-F238E27FC236}">
                <a16:creationId xmlns:a16="http://schemas.microsoft.com/office/drawing/2014/main" id="{21B868EA-8B35-B4DB-FCF5-ADCD3CA9E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607" y="55426"/>
            <a:ext cx="756921" cy="75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3504C0-FEFE-FFF9-20E7-177EAE04F979}"/>
              </a:ext>
            </a:extLst>
          </p:cNvPr>
          <p:cNvSpPr txBox="1"/>
          <p:nvPr/>
        </p:nvSpPr>
        <p:spPr>
          <a:xfrm>
            <a:off x="918607" y="205456"/>
            <a:ext cx="51773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5</a:t>
            </a:r>
            <a:r>
              <a:rPr lang="en-GB" sz="2000" dirty="0"/>
              <a:t>. F</a:t>
            </a:r>
            <a:r>
              <a:rPr lang="en-GB" sz="2000" dirty="0">
                <a:solidFill>
                  <a:schemeClr val="dk1"/>
                </a:solidFill>
              </a:rPr>
              <a:t>lag and update anomalies</a:t>
            </a:r>
          </a:p>
          <a:p>
            <a:endParaRPr lang="en-GB" sz="20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144B6E0-D737-DB87-B1EA-8206BFC798C2}"/>
              </a:ext>
            </a:extLst>
          </p:cNvPr>
          <p:cNvSpPr txBox="1">
            <a:spLocks/>
          </p:cNvSpPr>
          <p:nvPr/>
        </p:nvSpPr>
        <p:spPr>
          <a:xfrm>
            <a:off x="9376581" y="147973"/>
            <a:ext cx="2505003" cy="2423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00">
                <a:solidFill>
                  <a:srgbClr val="FF0000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--min, max amount</a:t>
            </a:r>
          </a:p>
          <a:p>
            <a:r>
              <a:rPr lang="en-US" dirty="0">
                <a:solidFill>
                  <a:schemeClr val="tx1"/>
                </a:solidFill>
              </a:rPr>
              <a:t>SELECT max(amount), min(amount) </a:t>
            </a:r>
          </a:p>
          <a:p>
            <a:r>
              <a:rPr lang="en-US" dirty="0">
                <a:solidFill>
                  <a:schemeClr val="tx1"/>
                </a:solidFill>
              </a:rPr>
              <a:t>FROM billing;</a:t>
            </a:r>
          </a:p>
          <a:p>
            <a:endParaRPr lang="en-US" dirty="0"/>
          </a:p>
          <a:p>
            <a:r>
              <a:rPr lang="en-US" dirty="0"/>
              <a:t>--Flag and Update Anomalies, search for  (amount &gt; 4900  OR amount &lt; 700)       </a:t>
            </a:r>
          </a:p>
          <a:p>
            <a:r>
              <a:rPr lang="en-US" dirty="0">
                <a:solidFill>
                  <a:schemeClr val="tx1"/>
                </a:solidFill>
              </a:rPr>
              <a:t>SELECT *</a:t>
            </a:r>
          </a:p>
          <a:p>
            <a:r>
              <a:rPr lang="en-US" dirty="0">
                <a:solidFill>
                  <a:schemeClr val="tx1"/>
                </a:solidFill>
              </a:rPr>
              <a:t>FROM billing</a:t>
            </a:r>
          </a:p>
          <a:p>
            <a:r>
              <a:rPr lang="en-US" dirty="0">
                <a:solidFill>
                  <a:schemeClr val="tx1"/>
                </a:solidFill>
              </a:rPr>
              <a:t>WHERE  </a:t>
            </a:r>
            <a:r>
              <a:rPr lang="en-US" dirty="0" err="1">
                <a:solidFill>
                  <a:schemeClr val="tx1"/>
                </a:solidFill>
              </a:rPr>
              <a:t>payment_status</a:t>
            </a:r>
            <a:r>
              <a:rPr lang="en-US" dirty="0">
                <a:solidFill>
                  <a:schemeClr val="tx1"/>
                </a:solidFill>
              </a:rPr>
              <a:t>= "Paid" </a:t>
            </a:r>
          </a:p>
          <a:p>
            <a:r>
              <a:rPr lang="en-US" dirty="0">
                <a:solidFill>
                  <a:schemeClr val="tx1"/>
                </a:solidFill>
              </a:rPr>
              <a:t>AND (amount &gt; 4900  OR amount &lt; 700)       </a:t>
            </a:r>
          </a:p>
          <a:p>
            <a:r>
              <a:rPr lang="en-US" dirty="0">
                <a:solidFill>
                  <a:schemeClr val="tx1"/>
                </a:solidFill>
              </a:rPr>
              <a:t>ORDER BY amount DESC;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r>
              <a:rPr lang="en-GB" dirty="0">
                <a:solidFill>
                  <a:schemeClr val="tx1"/>
                </a:solidFill>
              </a:rPr>
              <a:t>   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AD111E-2D5A-0DFD-4D69-7A5AE7B52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65147"/>
              </p:ext>
            </p:extLst>
          </p:nvPr>
        </p:nvGraphicFramePr>
        <p:xfrm>
          <a:off x="806057" y="1004540"/>
          <a:ext cx="7852913" cy="112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032">
                  <a:extLst>
                    <a:ext uri="{9D8B030D-6E8A-4147-A177-3AD203B41FA5}">
                      <a16:colId xmlns:a16="http://schemas.microsoft.com/office/drawing/2014/main" val="2812317498"/>
                    </a:ext>
                  </a:extLst>
                </a:gridCol>
                <a:gridCol w="985962">
                  <a:extLst>
                    <a:ext uri="{9D8B030D-6E8A-4147-A177-3AD203B41FA5}">
                      <a16:colId xmlns:a16="http://schemas.microsoft.com/office/drawing/2014/main" val="178812904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3488774609"/>
                    </a:ext>
                  </a:extLst>
                </a:gridCol>
                <a:gridCol w="1017767">
                  <a:extLst>
                    <a:ext uri="{9D8B030D-6E8A-4147-A177-3AD203B41FA5}">
                      <a16:colId xmlns:a16="http://schemas.microsoft.com/office/drawing/2014/main" val="2734336239"/>
                    </a:ext>
                  </a:extLst>
                </a:gridCol>
                <a:gridCol w="962108">
                  <a:extLst>
                    <a:ext uri="{9D8B030D-6E8A-4147-A177-3AD203B41FA5}">
                      <a16:colId xmlns:a16="http://schemas.microsoft.com/office/drawing/2014/main" val="2759880148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099365785"/>
                    </a:ext>
                  </a:extLst>
                </a:gridCol>
                <a:gridCol w="1534601">
                  <a:extLst>
                    <a:ext uri="{9D8B030D-6E8A-4147-A177-3AD203B41FA5}">
                      <a16:colId xmlns:a16="http://schemas.microsoft.com/office/drawing/2014/main" val="136481755"/>
                    </a:ext>
                  </a:extLst>
                </a:gridCol>
              </a:tblGrid>
              <a:tr h="5176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bill_id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patient_id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treatment_id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bill_date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amount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payment_method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 err="1">
                          <a:effectLst/>
                        </a:rPr>
                        <a:t>payment_status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2250439"/>
                  </a:ext>
                </a:extLst>
              </a:tr>
              <a:tr h="133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B108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P024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T108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45037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£4,974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Cash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Paid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19366243"/>
                  </a:ext>
                </a:extLst>
              </a:tr>
              <a:tr h="261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B142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P019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T142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45231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£663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Insurance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Paid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76733239"/>
                  </a:ext>
                </a:extLst>
              </a:tr>
              <a:tr h="133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B188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P002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T188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45028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£616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Cash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Paid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60449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DD9812-CF26-5812-6ABB-53A54BD968B1}"/>
              </a:ext>
            </a:extLst>
          </p:cNvPr>
          <p:cNvSpPr txBox="1"/>
          <p:nvPr/>
        </p:nvSpPr>
        <p:spPr>
          <a:xfrm>
            <a:off x="310416" y="5672072"/>
            <a:ext cx="10877384" cy="923330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/>
              <a:t>Process/ Insights:</a:t>
            </a:r>
          </a:p>
          <a:p>
            <a:r>
              <a:rPr lang="en-US" b="0" dirty="0"/>
              <a:t>Data with exceptionally low or high amounts were extracted for anomaly analysis. The review found no irregularities</a:t>
            </a:r>
            <a:r>
              <a:rPr lang="en-US" dirty="0"/>
              <a:t>.</a:t>
            </a:r>
            <a:endParaRPr lang="en-US" b="0" dirty="0"/>
          </a:p>
        </p:txBody>
      </p:sp>
      <p:pic>
        <p:nvPicPr>
          <p:cNvPr id="3" name="Graphic 2" descr="Repeat with solid fill">
            <a:extLst>
              <a:ext uri="{FF2B5EF4-FFF2-40B4-BE49-F238E27FC236}">
                <a16:creationId xmlns:a16="http://schemas.microsoft.com/office/drawing/2014/main" id="{3E9F5DFD-634F-4316-F1D1-F709ACC2E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199" y="147973"/>
            <a:ext cx="664029" cy="66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2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ADAEAF-8C7B-52C1-B933-353486C23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94827"/>
              </p:ext>
            </p:extLst>
          </p:nvPr>
        </p:nvGraphicFramePr>
        <p:xfrm>
          <a:off x="731555" y="901548"/>
          <a:ext cx="3406860" cy="869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7291">
                  <a:extLst>
                    <a:ext uri="{9D8B030D-6E8A-4147-A177-3AD203B41FA5}">
                      <a16:colId xmlns:a16="http://schemas.microsoft.com/office/drawing/2014/main" val="3496986611"/>
                    </a:ext>
                  </a:extLst>
                </a:gridCol>
                <a:gridCol w="1059569">
                  <a:extLst>
                    <a:ext uri="{9D8B030D-6E8A-4147-A177-3AD203B41FA5}">
                      <a16:colId xmlns:a16="http://schemas.microsoft.com/office/drawing/2014/main" val="469174271"/>
                    </a:ext>
                  </a:extLst>
                </a:gridCol>
              </a:tblGrid>
              <a:tr h="577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KEY METRICS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Value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1551788"/>
                  </a:ext>
                </a:extLst>
              </a:tr>
              <a:tr h="577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Total Revenue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£173,425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3321836"/>
                  </a:ext>
                </a:extLst>
              </a:tr>
              <a:tr h="1134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Average Revenue per Patient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£2,709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986627"/>
                  </a:ext>
                </a:extLst>
              </a:tr>
              <a:tr h="577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Total Patients_id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439914"/>
                  </a:ext>
                </a:extLst>
              </a:tr>
              <a:tr h="1134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Average Revenue per Doctor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£17,342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5568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45C13FD-7FC6-AF0A-4BD0-AA2D095C1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649" y="127530"/>
            <a:ext cx="2706204" cy="1366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DDACC3-3AE1-23A6-9E60-8805DAB1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540" y="161656"/>
            <a:ext cx="2342402" cy="1432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71F3D-EAC2-40D5-FA2E-65B30CE29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633" y="2291179"/>
            <a:ext cx="2754090" cy="1631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D0AAF9-61BB-E2B5-3CEF-8B312DD67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18" y="4566091"/>
            <a:ext cx="2309249" cy="1251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38D268-7DD2-54A8-AD83-C1D6877D2663}"/>
              </a:ext>
            </a:extLst>
          </p:cNvPr>
          <p:cNvSpPr txBox="1"/>
          <p:nvPr/>
        </p:nvSpPr>
        <p:spPr>
          <a:xfrm>
            <a:off x="587959" y="161656"/>
            <a:ext cx="5177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Revenue and Performance Insight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7C5F0-0BB3-4C32-F316-2A881CAF9806}"/>
              </a:ext>
            </a:extLst>
          </p:cNvPr>
          <p:cNvSpPr txBox="1"/>
          <p:nvPr/>
        </p:nvSpPr>
        <p:spPr>
          <a:xfrm>
            <a:off x="-19679" y="3685093"/>
            <a:ext cx="56915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Revenue by Treatment 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X-Ray drives 28% of the revenue </a:t>
            </a:r>
            <a:r>
              <a:rPr lang="en-US" sz="1000" i="1" dirty="0"/>
              <a:t>→ top revenue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X-Ray and MRI account for over half of revenue </a:t>
            </a:r>
            <a:r>
              <a:rPr lang="en-US" sz="1000" i="1" dirty="0"/>
              <a:t>→ highest value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MRI leads in top per-patient revenue </a:t>
            </a:r>
            <a:r>
              <a:rPr lang="en-US" sz="1000" i="1" dirty="0"/>
              <a:t>→ </a:t>
            </a:r>
            <a:r>
              <a:rPr lang="en-GB" sz="1000" dirty="0"/>
              <a:t>most profitable treatment, investment </a:t>
            </a:r>
            <a:r>
              <a:rPr lang="en-US" sz="1000" i="1" dirty="0"/>
              <a:t>opportunity</a:t>
            </a:r>
            <a:endParaRPr lang="en-GB" sz="1000" i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A45D9F-7681-AD6C-6591-D71C2A4F49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09" y="2147153"/>
            <a:ext cx="1998921" cy="15162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9E9FED-59D8-A44A-5ED4-9FB6B47A2E17}"/>
              </a:ext>
            </a:extLst>
          </p:cNvPr>
          <p:cNvSpPr txBox="1"/>
          <p:nvPr/>
        </p:nvSpPr>
        <p:spPr>
          <a:xfrm>
            <a:off x="-19679" y="601651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Revenue by Doctor/Treatment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Dr. Smith (Chemo) has the highest revenue per patient → Best practices candidate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Dr. Davis (X Ray) sees most patients, but lower per-patient revenue → Opportunity for premium service offerings</a:t>
            </a:r>
            <a:endParaRPr lang="en-GB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B47C75D-A9EA-40EA-CA89-64D031F2A7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649" y="4593637"/>
            <a:ext cx="3587934" cy="13780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63F3D9C-32ED-7149-68F6-E41EB5EDAAC2}"/>
              </a:ext>
            </a:extLst>
          </p:cNvPr>
          <p:cNvSpPr txBox="1"/>
          <p:nvPr/>
        </p:nvSpPr>
        <p:spPr>
          <a:xfrm>
            <a:off x="6336901" y="16271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Segment </a:t>
            </a:r>
            <a:r>
              <a:rPr lang="en-GB" sz="1000" dirty="0">
                <a:solidFill>
                  <a:schemeClr val="dk1"/>
                </a:solidFill>
              </a:rPr>
              <a:t>high-value patients </a:t>
            </a:r>
          </a:p>
          <a:p>
            <a:r>
              <a:rPr lang="en-US" sz="1000" b="0" dirty="0"/>
              <a:t>The top two tiers (27 patients) are responsible for nearly two-thirds of the total income → 80/20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B0DCB-977D-282E-D0A0-8CAAF5337D61}"/>
              </a:ext>
            </a:extLst>
          </p:cNvPr>
          <p:cNvSpPr txBox="1"/>
          <p:nvPr/>
        </p:nvSpPr>
        <p:spPr>
          <a:xfrm>
            <a:off x="6426649" y="3933538"/>
            <a:ext cx="47620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dk1"/>
                </a:solidFill>
              </a:rPr>
              <a:t>Simulate pricing changes </a:t>
            </a:r>
          </a:p>
          <a:p>
            <a:r>
              <a:rPr lang="en-GB" sz="1000" dirty="0"/>
              <a:t>Visual projection of prices increased by 10%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5F0DE1-A5E7-3989-0EAD-47743153CCEF}"/>
              </a:ext>
            </a:extLst>
          </p:cNvPr>
          <p:cNvSpPr txBox="1"/>
          <p:nvPr/>
        </p:nvSpPr>
        <p:spPr>
          <a:xfrm>
            <a:off x="6426648" y="5817317"/>
            <a:ext cx="59165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dk1"/>
                </a:solidFill>
              </a:rPr>
              <a:t>Track changes over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Revenue fluctuates significantly throughout the year (irregular monthly performance) → diversify revenue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Lowest Month: February—possible seasonal or operational factor → </a:t>
            </a:r>
            <a:r>
              <a:rPr lang="en-US" sz="1000" dirty="0" err="1"/>
              <a:t>analyse</a:t>
            </a:r>
            <a:r>
              <a:rPr lang="en-US" sz="1000" dirty="0"/>
              <a:t> root cause</a:t>
            </a:r>
            <a:endParaRPr lang="en-GB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Peak Month: June— highest-performing month, almost 2× the yearly average → </a:t>
            </a:r>
            <a:r>
              <a:rPr lang="en-US" sz="1000" dirty="0" err="1"/>
              <a:t>maximise</a:t>
            </a:r>
            <a:r>
              <a:rPr lang="en-US" sz="1000" dirty="0"/>
              <a:t> high-season revenue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65E3888-6274-74E3-46A9-AB646D771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227" y="2171831"/>
            <a:ext cx="1797142" cy="1282766"/>
          </a:xfrm>
          <a:prstGeom prst="rect">
            <a:avLst/>
          </a:prstGeom>
        </p:spPr>
      </p:pic>
      <p:pic>
        <p:nvPicPr>
          <p:cNvPr id="31" name="Graphic 30" descr="Checklist with solid fill">
            <a:extLst>
              <a:ext uri="{FF2B5EF4-FFF2-40B4-BE49-F238E27FC236}">
                <a16:creationId xmlns:a16="http://schemas.microsoft.com/office/drawing/2014/main" id="{E4351270-BFFA-51B3-F021-E3DB446169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54" y="89562"/>
            <a:ext cx="590300" cy="56792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53880FB-2DE2-FD7E-6289-E4279A95ECCB}"/>
              </a:ext>
            </a:extLst>
          </p:cNvPr>
          <p:cNvCxnSpPr>
            <a:cxnSpLocks/>
          </p:cNvCxnSpPr>
          <p:nvPr/>
        </p:nvCxnSpPr>
        <p:spPr>
          <a:xfrm>
            <a:off x="6096000" y="89562"/>
            <a:ext cx="0" cy="676843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D2930B-1DAD-DF5F-7D03-47FE3781E193}"/>
              </a:ext>
            </a:extLst>
          </p:cNvPr>
          <p:cNvCxnSpPr>
            <a:cxnSpLocks/>
          </p:cNvCxnSpPr>
          <p:nvPr/>
        </p:nvCxnSpPr>
        <p:spPr>
          <a:xfrm flipH="1" flipV="1">
            <a:off x="4372891" y="2111281"/>
            <a:ext cx="3406860" cy="67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B6909C-F4BB-A3B4-C92E-8118987CA266}"/>
              </a:ext>
            </a:extLst>
          </p:cNvPr>
          <p:cNvCxnSpPr>
            <a:cxnSpLocks/>
          </p:cNvCxnSpPr>
          <p:nvPr/>
        </p:nvCxnSpPr>
        <p:spPr>
          <a:xfrm flipH="1" flipV="1">
            <a:off x="4329478" y="4549674"/>
            <a:ext cx="3406860" cy="67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3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591</TotalTime>
  <Words>2067</Words>
  <Application>Microsoft Office PowerPoint</Application>
  <PresentationFormat>Widescreen</PresentationFormat>
  <Paragraphs>459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Objective: Produce insights to support strategic growth and revenue improvements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Maddalena N</dc:creator>
  <cp:lastModifiedBy>Maddalena N</cp:lastModifiedBy>
  <cp:revision>74</cp:revision>
  <dcterms:created xsi:type="dcterms:W3CDTF">2025-10-16T10:04:41Z</dcterms:created>
  <dcterms:modified xsi:type="dcterms:W3CDTF">2025-10-16T19:57:45Z</dcterms:modified>
</cp:coreProperties>
</file>